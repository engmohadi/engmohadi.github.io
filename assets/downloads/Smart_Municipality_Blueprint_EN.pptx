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of the Smart Municipality Blueprint.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of the Smart Municipality Blueprint.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of the Smart Municipality Blueprint.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of the Smart Municipality Blueprint.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of the Smart Municipality Blueprint.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of the Smart Municipality Blueprint.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of the Smart Municipality Blueprint.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of the Smart Municipality Blueprint.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of the Smart Municipality Blueprint.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515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4231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1089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74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MUNICIPALITY BLUEPRINT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27080" y="274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8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municipal operations, GIS and decision intelligence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31520" y="123444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Municipality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731520" y="274320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connected ecosystem for a more efficient city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731520" y="370332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8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operating model built from municipal management, engineering, GIS and field experience.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89620" y="2446020"/>
            <a:ext cx="1600200" cy="1600200"/>
          </a:xfrm>
          <a:prstGeom prst="ellipse">
            <a:avLst/>
          </a:prstGeom>
          <a:solidFill>
            <a:srgbClr val="071426">
              <a:alpha val="0"/>
            </a:srgbClr>
          </a:solidFill>
          <a:ln w="17780">
            <a:solidFill>
              <a:srgbClr val="0EA5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63840" y="1920240"/>
            <a:ext cx="2651760" cy="2651760"/>
          </a:xfrm>
          <a:prstGeom prst="ellipse">
            <a:avLst/>
          </a:prstGeom>
          <a:solidFill>
            <a:srgbClr val="071426">
              <a:alpha val="0"/>
            </a:srgbClr>
          </a:solidFill>
          <a:ln w="17780">
            <a:solidFill>
              <a:srgbClr val="2DD4BF">
                <a:alpha val="8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38060" y="1394460"/>
            <a:ext cx="3703320" cy="3703320"/>
          </a:xfrm>
          <a:prstGeom prst="ellipse">
            <a:avLst/>
          </a:prstGeom>
          <a:solidFill>
            <a:srgbClr val="071426">
              <a:alpha val="0"/>
            </a:srgbClr>
          </a:solidFill>
          <a:ln w="17780">
            <a:solidFill>
              <a:srgbClr val="0EA5E9">
                <a:alpha val="7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9189720" y="1280160"/>
            <a:ext cx="0" cy="1965960"/>
          </a:xfrm>
          <a:prstGeom prst="line">
            <a:avLst/>
          </a:prstGeom>
          <a:noFill/>
          <a:ln w="17780">
            <a:solidFill>
              <a:srgbClr val="0EA5E9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87384" y="932688"/>
            <a:ext cx="804672" cy="694944"/>
          </a:xfrm>
          <a:prstGeom prst="hexagon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89720" y="3246120"/>
            <a:ext cx="2057400" cy="0"/>
          </a:xfrm>
          <a:prstGeom prst="line">
            <a:avLst/>
          </a:prstGeom>
          <a:noFill/>
          <a:ln w="17780">
            <a:solidFill>
              <a:srgbClr val="0EA5E9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44784" y="2898648"/>
            <a:ext cx="804672" cy="694944"/>
          </a:xfrm>
          <a:prstGeom prst="hexagon">
            <a:avLst/>
          </a:prstGeom>
          <a:solidFill>
            <a:srgbClr val="2DD4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89720" y="3246120"/>
            <a:ext cx="0" cy="1965960"/>
          </a:xfrm>
          <a:prstGeom prst="line">
            <a:avLst/>
          </a:prstGeom>
          <a:noFill/>
          <a:ln w="17780">
            <a:solidFill>
              <a:srgbClr val="0EA5E9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87384" y="4864608"/>
            <a:ext cx="804672" cy="694944"/>
          </a:xfrm>
          <a:prstGeom prst="hexagon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>
            <a:off x="7132320" y="3246120"/>
            <a:ext cx="2057400" cy="0"/>
          </a:xfrm>
          <a:prstGeom prst="line">
            <a:avLst/>
          </a:prstGeom>
          <a:noFill/>
          <a:ln w="17780">
            <a:solidFill>
              <a:srgbClr val="0EA5E9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29984" y="2898648"/>
            <a:ext cx="804672" cy="694944"/>
          </a:xfrm>
          <a:prstGeom prst="hexagon">
            <a:avLst/>
          </a:prstGeom>
          <a:solidFill>
            <a:srgbClr val="2DD4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76488" y="2532888"/>
            <a:ext cx="1426464" cy="1426464"/>
          </a:xfrm>
          <a:prstGeom prst="ellipse">
            <a:avLst/>
          </a:prstGeom>
          <a:solidFill>
            <a:srgbClr val="FFFFFF"/>
          </a:solidFill>
          <a:ln w="3048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76488" y="2532888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515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4231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1089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74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MUNICIPALITY BLUEPRINT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27080" y="274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municipal operations, GIS and decision intelligence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8368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Digital Transformation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658368" y="13258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platform designed around three connected outcomes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 flipV="1">
            <a:off x="3566160" y="2651760"/>
            <a:ext cx="2359152" cy="155448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14400" y="3611880"/>
            <a:ext cx="2834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9E2E8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15568" y="3813048"/>
            <a:ext cx="420624" cy="42062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155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5568" y="43616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115568" y="473659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modern, responsive experience for requests, payments, notifications and service follow-up.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22592" y="2651760"/>
            <a:ext cx="2359152" cy="155448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370832" y="2057400"/>
            <a:ext cx="2834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9E2E8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2258568"/>
            <a:ext cx="420624" cy="42062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0" y="280720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4572000" y="318211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completion and seamless coordination between employees, departments and the public.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827264" y="3611880"/>
            <a:ext cx="2834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9E2E8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028432" y="3813048"/>
            <a:ext cx="420624" cy="420624"/>
          </a:xfrm>
          <a:prstGeom prst="ellipse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28432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28432" y="43616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8028432" y="473659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spatial data and indicators that support planning, transparency and resource allocation.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974336" y="3886200"/>
            <a:ext cx="2240280" cy="2240280"/>
          </a:xfrm>
          <a:prstGeom prst="ellipse">
            <a:avLst/>
          </a:prstGeom>
          <a:solidFill>
            <a:srgbClr val="071426"/>
          </a:solidFill>
          <a:ln w="2794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84648" y="4315968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515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4231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1089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74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MUNICIPALITY BLUEPRINT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27080" y="274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8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municipal operations, GIS and decision intelligence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8368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Traditional Administration to Smart Operations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658368" y="13258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8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transition from fragmented procedures to measurable municipal performance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31520" y="1828800"/>
            <a:ext cx="4983480" cy="4160520"/>
          </a:xfrm>
          <a:prstGeom prst="roundRect">
            <a:avLst>
              <a:gd name="adj" fmla="val 1319"/>
            </a:avLst>
          </a:prstGeom>
          <a:solidFill>
            <a:srgbClr val="0E223B"/>
          </a:solidFill>
          <a:ln w="12700">
            <a:solidFill>
              <a:srgbClr val="17324E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73952" y="1828800"/>
            <a:ext cx="4983480" cy="4160520"/>
          </a:xfrm>
          <a:prstGeom prst="roundRect">
            <a:avLst>
              <a:gd name="adj" fmla="val 1319"/>
            </a:avLst>
          </a:prstGeom>
          <a:solidFill>
            <a:srgbClr val="0E223B"/>
          </a:solidFill>
          <a:ln w="12700">
            <a:solidFill>
              <a:srgbClr val="17324E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51560" y="2057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administration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793992" y="2057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municipality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68112" y="2697480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51560" y="26974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B8C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and fragmented procedures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6793992" y="26974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D8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digital platform and connected departments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1051560" y="3291840"/>
            <a:ext cx="4160520" cy="0"/>
          </a:xfrm>
          <a:prstGeom prst="line">
            <a:avLst/>
          </a:prstGeom>
          <a:noFill/>
          <a:ln w="10160">
            <a:solidFill>
              <a:srgbClr val="17324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93992" y="3291840"/>
            <a:ext cx="4160520" cy="0"/>
          </a:xfrm>
          <a:prstGeom prst="line">
            <a:avLst/>
          </a:prstGeom>
          <a:noFill/>
          <a:ln w="10160">
            <a:solidFill>
              <a:srgbClr val="17324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68112" y="3447288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51560" y="34472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B8C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tracking and follow-up</a:t>
            </a:r>
            <a:endParaRPr lang="en-US" sz="1120" dirty="0"/>
          </a:p>
        </p:txBody>
      </p:sp>
      <p:sp>
        <p:nvSpPr>
          <p:cNvPr id="46" name="Text 44"/>
          <p:cNvSpPr/>
          <p:nvPr/>
        </p:nvSpPr>
        <p:spPr>
          <a:xfrm>
            <a:off x="6793992" y="34472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D8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workflows, responsibilities and status history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1051560" y="4041648"/>
            <a:ext cx="4160520" cy="0"/>
          </a:xfrm>
          <a:prstGeom prst="line">
            <a:avLst/>
          </a:prstGeom>
          <a:noFill/>
          <a:ln w="10160">
            <a:solidFill>
              <a:srgbClr val="17324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93992" y="4041648"/>
            <a:ext cx="4160520" cy="0"/>
          </a:xfrm>
          <a:prstGeom prst="line">
            <a:avLst/>
          </a:prstGeom>
          <a:noFill/>
          <a:ln w="10160">
            <a:solidFill>
              <a:srgbClr val="17324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68112" y="4197096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51560" y="419709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B8C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or outdated information</a:t>
            </a:r>
            <a:endParaRPr lang="en-US" sz="1120" dirty="0"/>
          </a:p>
        </p:txBody>
      </p:sp>
      <p:sp>
        <p:nvSpPr>
          <p:cNvPr id="51" name="Text 49"/>
          <p:cNvSpPr/>
          <p:nvPr/>
        </p:nvSpPr>
        <p:spPr>
          <a:xfrm>
            <a:off x="6793992" y="419709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D8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reports and accurate operational evidence</a:t>
            </a:r>
            <a:endParaRPr lang="en-US" sz="1120" dirty="0"/>
          </a:p>
        </p:txBody>
      </p:sp>
      <p:sp>
        <p:nvSpPr>
          <p:cNvPr id="52" name="Shape 50"/>
          <p:cNvSpPr/>
          <p:nvPr/>
        </p:nvSpPr>
        <p:spPr>
          <a:xfrm>
            <a:off x="1051560" y="4791456"/>
            <a:ext cx="4160520" cy="0"/>
          </a:xfrm>
          <a:prstGeom prst="line">
            <a:avLst/>
          </a:prstGeom>
          <a:noFill/>
          <a:ln w="10160">
            <a:solidFill>
              <a:srgbClr val="17324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93992" y="4791456"/>
            <a:ext cx="4160520" cy="0"/>
          </a:xfrm>
          <a:prstGeom prst="line">
            <a:avLst/>
          </a:prstGeom>
          <a:noFill/>
          <a:ln w="10160">
            <a:solidFill>
              <a:srgbClr val="17324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68112" y="4946904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51560" y="494690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B8C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and limited systems</a:t>
            </a:r>
            <a:endParaRPr lang="en-US" sz="1120" dirty="0"/>
          </a:p>
        </p:txBody>
      </p:sp>
      <p:sp>
        <p:nvSpPr>
          <p:cNvPr id="56" name="Text 54"/>
          <p:cNvSpPr/>
          <p:nvPr/>
        </p:nvSpPr>
        <p:spPr>
          <a:xfrm>
            <a:off x="6793992" y="494690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D8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architecture ready for expansion and integration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515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4231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1089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74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MUNICIPALITY BLUEPRINT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27080" y="274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municipal operations, GIS and decision intelligence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8368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Transaction Journey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658368" y="13258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citizen transaction remains connected, traceable and documented from submission to archive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417320" y="2761488"/>
            <a:ext cx="9326880" cy="0"/>
          </a:xfrm>
          <a:prstGeom prst="line">
            <a:avLst/>
          </a:prstGeom>
          <a:noFill/>
          <a:ln w="50800">
            <a:solidFill>
              <a:srgbClr val="0EA5E9">
                <a:alpha val="9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36192" y="2295144"/>
            <a:ext cx="932688" cy="932688"/>
          </a:xfrm>
          <a:prstGeom prst="ellipse">
            <a:avLst/>
          </a:prstGeom>
          <a:solidFill>
            <a:srgbClr val="22D3EE"/>
          </a:solidFill>
          <a:ln w="2794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536192" y="2295144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8368" y="3493008"/>
            <a:ext cx="26974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E2E8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41248" y="37307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41248" y="418795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forms, attachments and automated validation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71416" y="2295144"/>
            <a:ext cx="932688" cy="932688"/>
          </a:xfrm>
          <a:prstGeom prst="ellipse">
            <a:avLst/>
          </a:prstGeom>
          <a:solidFill>
            <a:srgbClr val="2DD4BF"/>
          </a:solidFill>
          <a:ln w="2794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471416" y="2295144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593592" y="3493008"/>
            <a:ext cx="26974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E2E8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776472" y="37307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3776472" y="418795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Interdepartmental workflow, responsibilities and status tracking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406640" y="2295144"/>
            <a:ext cx="932688" cy="932688"/>
          </a:xfrm>
          <a:prstGeom prst="ellipse">
            <a:avLst/>
          </a:prstGeom>
          <a:solidFill>
            <a:srgbClr val="22D3EE"/>
          </a:solidFill>
          <a:ln w="2794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406640" y="2295144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28816" y="3493008"/>
            <a:ext cx="26974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E2E8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711696" y="37307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6711696" y="418795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electronic payments and documented receipts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0341864" y="2295144"/>
            <a:ext cx="932688" cy="932688"/>
          </a:xfrm>
          <a:prstGeom prst="ellipse">
            <a:avLst/>
          </a:prstGeom>
          <a:solidFill>
            <a:srgbClr val="2DD4BF"/>
          </a:solidFill>
          <a:ln w="2794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0341864" y="2295144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464040" y="3493008"/>
            <a:ext cx="26974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E2E8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646920" y="37307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&amp; Archive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9646920" y="418795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approval, notifications and reliable digital records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515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4231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1089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74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MUNICIPALITY BLUEPRINT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27080" y="274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municipal operations, GIS and decision intelligence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8368" y="6858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Spatial Management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658368" y="132588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GIS connects municipal procedures to the real location of every asset, property and service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27648" y="1965960"/>
            <a:ext cx="516636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C9E2E8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 flipV="1">
            <a:off x="6647688" y="1984248"/>
            <a:ext cx="4526280" cy="320040"/>
          </a:xfrm>
          <a:prstGeom prst="line">
            <a:avLst/>
          </a:prstGeom>
          <a:noFill/>
          <a:ln w="30480">
            <a:solidFill>
              <a:srgbClr val="0EA5E9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47688" y="2743200"/>
            <a:ext cx="4526280" cy="0"/>
          </a:xfrm>
          <a:prstGeom prst="line">
            <a:avLst/>
          </a:prstGeom>
          <a:noFill/>
          <a:ln w="10160">
            <a:solidFill>
              <a:srgbClr val="C9E2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47688" y="3182112"/>
            <a:ext cx="4526280" cy="320040"/>
          </a:xfrm>
          <a:prstGeom prst="line">
            <a:avLst/>
          </a:prstGeom>
          <a:noFill/>
          <a:ln w="30480">
            <a:solidFill>
              <a:srgbClr val="0EA5E9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6647688" y="3300984"/>
            <a:ext cx="4526280" cy="320040"/>
          </a:xfrm>
          <a:prstGeom prst="line">
            <a:avLst/>
          </a:prstGeom>
          <a:noFill/>
          <a:ln w="10160">
            <a:solidFill>
              <a:srgbClr val="C9E2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47688" y="4059936"/>
            <a:ext cx="4526280" cy="0"/>
          </a:xfrm>
          <a:prstGeom prst="line">
            <a:avLst/>
          </a:prstGeom>
          <a:noFill/>
          <a:ln w="30480">
            <a:solidFill>
              <a:srgbClr val="0EA5E9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47688" y="4498848"/>
            <a:ext cx="4526280" cy="320040"/>
          </a:xfrm>
          <a:prstGeom prst="line">
            <a:avLst/>
          </a:prstGeom>
          <a:noFill/>
          <a:ln w="10160">
            <a:solidFill>
              <a:srgbClr val="C9E2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647688" y="4617720"/>
            <a:ext cx="4526280" cy="320040"/>
          </a:xfrm>
          <a:prstGeom prst="line">
            <a:avLst/>
          </a:prstGeom>
          <a:noFill/>
          <a:ln w="30480">
            <a:solidFill>
              <a:srgbClr val="0EA5E9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-240000">
            <a:off x="6894576" y="2468880"/>
            <a:ext cx="1005840" cy="713232"/>
          </a:xfrm>
          <a:prstGeom prst="rect">
            <a:avLst/>
          </a:prstGeom>
          <a:solidFill>
            <a:srgbClr val="D7F6F3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40000">
            <a:off x="8311896" y="2468880"/>
            <a:ext cx="1005840" cy="713232"/>
          </a:xfrm>
          <a:prstGeom prst="rect">
            <a:avLst/>
          </a:prstGeom>
          <a:solidFill>
            <a:srgbClr val="EAF5F8"/>
          </a:solidFill>
          <a:ln w="13970">
            <a:solidFill>
              <a:srgbClr val="0EA5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-240000">
            <a:off x="9729216" y="2468880"/>
            <a:ext cx="1005840" cy="713232"/>
          </a:xfrm>
          <a:prstGeom prst="rect">
            <a:avLst/>
          </a:prstGeom>
          <a:solidFill>
            <a:srgbClr val="D7F6F3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40000">
            <a:off x="6894576" y="3886200"/>
            <a:ext cx="1005840" cy="713232"/>
          </a:xfrm>
          <a:prstGeom prst="rect">
            <a:avLst/>
          </a:prstGeom>
          <a:solidFill>
            <a:srgbClr val="EAF5F8"/>
          </a:solidFill>
          <a:ln w="13970">
            <a:solidFill>
              <a:srgbClr val="0EA5E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-240000">
            <a:off x="8311896" y="3886200"/>
            <a:ext cx="1005840" cy="713232"/>
          </a:xfrm>
          <a:prstGeom prst="rect">
            <a:avLst/>
          </a:prstGeom>
          <a:solidFill>
            <a:srgbClr val="D7F6F3"/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40000">
            <a:off x="9729216" y="3886200"/>
            <a:ext cx="1005840" cy="713232"/>
          </a:xfrm>
          <a:prstGeom prst="rect">
            <a:avLst/>
          </a:prstGeom>
          <a:solidFill>
            <a:srgbClr val="EAF5F8"/>
          </a:solidFill>
          <a:ln w="13970">
            <a:solidFill>
              <a:srgbClr val="0EA5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33488" y="2944368"/>
            <a:ext cx="292608" cy="29260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45168" y="3310128"/>
            <a:ext cx="292608" cy="292608"/>
          </a:xfrm>
          <a:prstGeom prst="ellipse">
            <a:avLst/>
          </a:prstGeom>
          <a:solidFill>
            <a:srgbClr val="F4C95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96728" y="4727448"/>
            <a:ext cx="292608" cy="29260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8368" y="1965960"/>
            <a:ext cx="49834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E2E8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41248" y="2112264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1248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316736" y="2084832"/>
            <a:ext cx="4123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Management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859536" y="2496312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Buildings, land, facilities and municipal assets linked to verified coordinates.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58368" y="3273552"/>
            <a:ext cx="49834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E2E8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41248" y="3419856"/>
            <a:ext cx="347472" cy="34747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1248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316736" y="3392424"/>
            <a:ext cx="4123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Records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859536" y="3803904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and descriptive records connected to transactions, ownership and service history.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58368" y="4581144"/>
            <a:ext cx="49834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E2E8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41248" y="4727448"/>
            <a:ext cx="347472" cy="347472"/>
          </a:xfrm>
          <a:prstGeom prst="ellipse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" y="4727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316736" y="4700016"/>
            <a:ext cx="4123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Operations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859536" y="5111496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inspection, maintenance and field updates through one geographic interface.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515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4231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1089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74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MUNICIPALITY BLUEPRINT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27080" y="274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8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municipal operations, GIS and decision intelligence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8368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Decision-Maker Enablement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658368" y="13258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8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indicators and reliable reports turn municipal activity into timely management decisions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0" y="1828800"/>
            <a:ext cx="69494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214884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5FAFC"/>
          </a:solidFill>
          <a:ln w="12700">
            <a:solidFill>
              <a:srgbClr val="C9E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22860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040880" y="214884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E6FBF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22860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9189720" y="214884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5FAFC"/>
          </a:solidFill>
          <a:ln w="12700">
            <a:solidFill>
              <a:srgbClr val="C9E2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72600" y="22860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6.4h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5074920" y="4526280"/>
            <a:ext cx="393192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33288" y="4069080"/>
            <a:ext cx="393192" cy="12801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91656" y="4663440"/>
            <a:ext cx="393192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50024" y="3566160"/>
            <a:ext cx="393192" cy="17830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08392" y="4206240"/>
            <a:ext cx="393192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66760" y="3337560"/>
            <a:ext cx="393192" cy="20116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81160" y="3337560"/>
            <a:ext cx="1417320" cy="1417320"/>
          </a:xfrm>
          <a:prstGeom prst="ellipse">
            <a:avLst/>
          </a:prstGeom>
          <a:solidFill>
            <a:srgbClr val="FFFFFF">
              <a:alpha val="0"/>
            </a:srgbClr>
          </a:solidFill>
          <a:ln w="165100">
            <a:solidFill>
              <a:srgbClr val="2DD4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81160" y="33375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658368" y="1828800"/>
            <a:ext cx="3703320" cy="1207008"/>
          </a:xfrm>
          <a:prstGeom prst="roundRect">
            <a:avLst>
              <a:gd name="adj" fmla="val 4545"/>
            </a:avLst>
          </a:prstGeom>
          <a:solidFill>
            <a:srgbClr val="0E223B"/>
          </a:solidFill>
          <a:ln w="12700">
            <a:solidFill>
              <a:srgbClr val="17324E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41248" y="1975104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316736" y="1947672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Indicators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859536" y="2359152"/>
            <a:ext cx="3300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completion rates, workloads and service quality across departments.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58368" y="3218688"/>
            <a:ext cx="3703320" cy="1207008"/>
          </a:xfrm>
          <a:prstGeom prst="roundRect">
            <a:avLst>
              <a:gd name="adj" fmla="val 4545"/>
            </a:avLst>
          </a:prstGeom>
          <a:solidFill>
            <a:srgbClr val="0E223B"/>
          </a:solidFill>
          <a:ln w="12700">
            <a:solidFill>
              <a:srgbClr val="17324E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316736" y="3337560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Reports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859536" y="3749040"/>
            <a:ext cx="3300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clear, current evidence for planning, budgeting and executive review.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58368" y="4608576"/>
            <a:ext cx="3703320" cy="1207008"/>
          </a:xfrm>
          <a:prstGeom prst="roundRect">
            <a:avLst>
              <a:gd name="adj" fmla="val 4545"/>
            </a:avLst>
          </a:prstGeom>
          <a:solidFill>
            <a:srgbClr val="0E223B"/>
          </a:solidFill>
          <a:ln w="12700">
            <a:solidFill>
              <a:srgbClr val="17324E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41248" y="4754880"/>
            <a:ext cx="347472" cy="347472"/>
          </a:xfrm>
          <a:prstGeom prst="ellipse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1248" y="4754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316736" y="4727448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859536" y="5138928"/>
            <a:ext cx="3300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activity, responsibilities and outcomes through auditable operational data.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515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4231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1089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74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MUNICIPALITY BLUEPRINT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27080" y="274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municipal operations, GIS and decision intelligence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8368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Flexible, Secure and Scalable Technology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658368" y="13258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modular foundation that can start with priority services and expand as needs and budgets evolve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2212848" y="1874520"/>
            <a:ext cx="7781544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32888" y="19842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09160" y="1975104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Arabic-first interfaces for citizens, employees and managers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956816" y="2862072"/>
            <a:ext cx="8293608" cy="786384"/>
          </a:xfrm>
          <a:prstGeom prst="roundRect">
            <a:avLst>
              <a:gd name="adj" fmla="val 6977"/>
            </a:avLst>
          </a:prstGeom>
          <a:solidFill>
            <a:srgbClr val="E4F9F6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276856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09160" y="2962656"/>
            <a:ext cx="4901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Notifications, service updates and coordinated follow-up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956816" y="3849624"/>
            <a:ext cx="829360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276856" y="39593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709160" y="3950208"/>
            <a:ext cx="4901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and connections with existing municipal systems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212848" y="4837176"/>
            <a:ext cx="7781544" cy="786384"/>
          </a:xfrm>
          <a:prstGeom prst="roundRect">
            <a:avLst>
              <a:gd name="adj" fmla="val 6977"/>
            </a:avLst>
          </a:prstGeom>
          <a:solidFill>
            <a:srgbClr val="E4F9F6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532888" y="49469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Architecture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709160" y="493776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modules that can be implemented and expanded in phases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367528" y="5504688"/>
            <a:ext cx="1463040" cy="749808"/>
          </a:xfrm>
          <a:prstGeom prst="hexagon">
            <a:avLst/>
          </a:prstGeom>
          <a:solidFill>
            <a:srgbClr val="071426"/>
          </a:solidFill>
          <a:ln w="2032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68112" y="565099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CORE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515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4231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1089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4445">
            <a:solidFill>
              <a:srgbClr val="1A3C59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74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MUNICIPALITY BLUEPRINT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27080" y="274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8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municipal operations, GIS and decision intelligence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8368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Governance and Auditability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658368" y="13258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8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controls protect information and make every action accountable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 rot="5400000">
            <a:off x="8595360" y="2057400"/>
            <a:ext cx="2651760" cy="3108960"/>
          </a:xfrm>
          <a:prstGeom prst="hexagon">
            <a:avLst/>
          </a:prstGeom>
          <a:solidFill>
            <a:srgbClr val="0E223B"/>
          </a:solidFill>
          <a:ln w="3048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72600" y="2761488"/>
            <a:ext cx="1097280" cy="1097280"/>
          </a:xfrm>
          <a:prstGeom prst="ellipse">
            <a:avLst/>
          </a:prstGeom>
          <a:solidFill>
            <a:srgbClr val="2DD4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72600" y="27614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006840" y="40965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13232" y="1920240"/>
            <a:ext cx="6492240" cy="1161288"/>
          </a:xfrm>
          <a:prstGeom prst="roundRect">
            <a:avLst>
              <a:gd name="adj" fmla="val 4724"/>
            </a:avLst>
          </a:prstGeom>
          <a:solidFill>
            <a:srgbClr val="0E223B"/>
          </a:solidFill>
          <a:ln w="12700">
            <a:solidFill>
              <a:srgbClr val="17324E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96112" y="2066544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371600" y="2039112"/>
            <a:ext cx="5632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Logs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14400" y="2450592"/>
            <a:ext cx="60899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record of every action performed inside the platform.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13232" y="3273552"/>
            <a:ext cx="6492240" cy="1161288"/>
          </a:xfrm>
          <a:prstGeom prst="roundRect">
            <a:avLst>
              <a:gd name="adj" fmla="val 4724"/>
            </a:avLst>
          </a:prstGeom>
          <a:solidFill>
            <a:srgbClr val="0E223B"/>
          </a:solidFill>
          <a:ln w="12700">
            <a:solidFill>
              <a:srgbClr val="17324E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96112" y="3419856"/>
            <a:ext cx="347472" cy="34747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6112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371600" y="3392424"/>
            <a:ext cx="5632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Tracking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14400" y="3803904"/>
            <a:ext cx="60899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history of changes, approvals and transaction status.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13232" y="4626864"/>
            <a:ext cx="6492240" cy="1161288"/>
          </a:xfrm>
          <a:prstGeom prst="roundRect">
            <a:avLst>
              <a:gd name="adj" fmla="val 4724"/>
            </a:avLst>
          </a:prstGeom>
          <a:solidFill>
            <a:srgbClr val="0E223B"/>
          </a:solidFill>
          <a:ln w="12700">
            <a:solidFill>
              <a:srgbClr val="17324E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96112" y="4773168"/>
            <a:ext cx="347472" cy="347472"/>
          </a:xfrm>
          <a:prstGeom prst="ellipse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371600" y="4745736"/>
            <a:ext cx="5632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Permissions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914400" y="5157216"/>
            <a:ext cx="60899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that protects data and separates responsibilities.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515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4231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1089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1663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4445">
            <a:solidFill>
              <a:srgbClr val="DCECF1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74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MUNICIPALITY BLUEPRINT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27080" y="2743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municipal operations, GIS and decision intelligence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8368" y="6858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A Smarter Municipality.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658368" y="13258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connected architecture that brings municipal operations, spatial intelligence and digital services together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 flipV="1">
            <a:off x="6089904" y="2404872"/>
            <a:ext cx="0" cy="1664208"/>
          </a:xfrm>
          <a:prstGeom prst="line">
            <a:avLst/>
          </a:prstGeom>
          <a:noFill/>
          <a:ln w="27940">
            <a:solidFill>
              <a:srgbClr val="0EA5E9">
                <a:alpha val="8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55464" y="1783080"/>
            <a:ext cx="24688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0056" y="194767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020056" y="2350008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information systems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 flipV="1">
            <a:off x="6089904" y="4032504"/>
            <a:ext cx="3968496" cy="36576"/>
          </a:xfrm>
          <a:prstGeom prst="line">
            <a:avLst/>
          </a:prstGeom>
          <a:noFill/>
          <a:ln w="27940">
            <a:solidFill>
              <a:srgbClr val="2DD4BF">
                <a:alpha val="8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23960" y="3410712"/>
            <a:ext cx="2468880" cy="1261872"/>
          </a:xfrm>
          <a:prstGeom prst="roundRect">
            <a:avLst>
              <a:gd name="adj" fmla="val 4348"/>
            </a:avLst>
          </a:prstGeom>
          <a:solidFill>
            <a:srgbClr val="E3F8F5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988552" y="3575304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988552" y="397764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and transaction management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89904" y="4069080"/>
            <a:ext cx="0" cy="1810512"/>
          </a:xfrm>
          <a:prstGeom prst="line">
            <a:avLst/>
          </a:prstGeom>
          <a:noFill/>
          <a:ln w="27940">
            <a:solidFill>
              <a:srgbClr val="0EA5E9">
                <a:alpha val="8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55464" y="5257800"/>
            <a:ext cx="24688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20056" y="54223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020056" y="5824728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Indicators, analytics and reports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 flipH="1" flipV="1">
            <a:off x="2743200" y="4032504"/>
            <a:ext cx="3346704" cy="36576"/>
          </a:xfrm>
          <a:prstGeom prst="line">
            <a:avLst/>
          </a:prstGeom>
          <a:noFill/>
          <a:ln w="27940">
            <a:solidFill>
              <a:srgbClr val="2DD4BF">
                <a:alpha val="8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08760" y="3410712"/>
            <a:ext cx="2468880" cy="1261872"/>
          </a:xfrm>
          <a:prstGeom prst="roundRect">
            <a:avLst>
              <a:gd name="adj" fmla="val 4348"/>
            </a:avLst>
          </a:prstGeom>
          <a:solidFill>
            <a:srgbClr val="E3F8F5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673352" y="3575304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Core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673352" y="397764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Secure, scalable infrastructure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19472" y="2898648"/>
            <a:ext cx="2340864" cy="2340864"/>
          </a:xfrm>
          <a:prstGeom prst="ellipse">
            <a:avLst/>
          </a:prstGeom>
          <a:solidFill>
            <a:srgbClr val="071426"/>
          </a:solidFill>
          <a:ln w="3302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248656" y="3502152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248656" y="3931920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248656" y="4361688"/>
            <a:ext cx="1682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Mohammad Abdelhadi GIS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Municipality Blueprint</dc:title>
  <dc:subject>Integrated Smart Municipality Platform</dc:subject>
  <dc:creator>Mohammad Abdelhadi</dc:creator>
  <cp:lastModifiedBy>Mohammad Abdelhadi</cp:lastModifiedBy>
  <cp:revision>1</cp:revision>
  <dcterms:created xsi:type="dcterms:W3CDTF">2026-07-24T14:32:10Z</dcterms:created>
  <dcterms:modified xsi:type="dcterms:W3CDTF">2026-07-24T14:32:10Z</dcterms:modified>
</cp:coreProperties>
</file>